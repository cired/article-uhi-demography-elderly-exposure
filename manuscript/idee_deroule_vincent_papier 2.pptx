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4038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53869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299378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864249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64037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98085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899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537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935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8AF0EF-28C0-2C80-7E75-5EEFE75E6D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486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032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425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C462CA-F0B2-59E2-F8B9-75C8434EB1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213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853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61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6D6112-9FE3-8636-9E55-F62A7F14CF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540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1872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536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E6C259-37D5-2F17-365E-AD060044A5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240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207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208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2CBDC7-B9C3-8695-643A-4FD7893145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73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69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890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D8AFE1-DA07-2B6E-36DD-9D5A33FAA6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969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179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01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21C8E8-3E6E-B463-3A40-6403791892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304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958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951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F551F9-DB97-C9BD-F295-AD71B4F3C1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213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856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908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9B87F2-33D1-DFF8-E82E-CAD783F67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21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5338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267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E3A6E1-A209-403B-8A82-B41E3F42CB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47001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90617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02534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8476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9506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573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9391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11892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289856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835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20075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45451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6741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5054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71901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23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3766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40348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81770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47781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68836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95798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46895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50253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34814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472643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053691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38437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4982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2703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987075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6183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014644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23574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79204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7424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2018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679715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66472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92654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29022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5581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32197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980500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668003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40376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71539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9387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771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43983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20837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693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09022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06196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22087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27076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60134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678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1873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64377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390979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53047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1988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i.org/10.1016/j.envint.2020.105909" TargetMode="External"/><Relationship Id="rId4" Type="http://schemas.openxmlformats.org/officeDocument/2006/relationships/hyperlink" Target="https://doi.org/10.1016/j.ecolecon.2025.108873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1181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Aging and heat vulnerability</a:t>
            </a:r>
            <a:endParaRPr/>
          </a:p>
        </p:txBody>
      </p:sp>
      <p:sp>
        <p:nvSpPr>
          <p:cNvPr id="26979966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Older adults are particularly vulnerable to heat 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1028700" marR="0" lvl="5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Meade, Robert D., Ashley P. Akerman, Sean R. Notley, et al. 2020. “Physiological Factors Characterizing Heat-Vulnerable Older Adults: A Narrative Review.”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Environment International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144 (November): 105909. </a:t>
            </a:r>
            <a:r>
              <a:rPr lang="en-US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https://doi.org/10.1016/j.envint.2020.105909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1028700" marR="0" lvl="5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Salesse, Camille. 2026. “Who Suffers the Heat? Partial Adaptation and Persistent Inequalities in France.”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Ecological Economics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241 (March): 108873. </a:t>
            </a:r>
            <a:r>
              <a:rPr lang="en-US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https://doi.org/10.1016/j.ecolecon.2025.108873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lvl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Population aging is a key variable in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scenarios of global vulnerability to heat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1" indent="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6338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Litterature review and research question</a:t>
            </a:r>
            <a:endParaRPr/>
          </a:p>
        </p:txBody>
      </p:sp>
      <p:sp>
        <p:nvSpPr>
          <p:cNvPr id="172969498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>
              <a:defRPr/>
            </a:pPr>
            <a:r>
              <a:rPr/>
              <a:t>Numerous scenarios have been made, by combining demographic projections and climate projections</a:t>
            </a:r>
            <a:endParaRPr/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Chen, Kai, Evan de Schrijver, Sidharth Sivaraj, et al. 2024. “Impact of Population Aging on Future Temperature-Related Mortality at Different Global Warming Levels.” Nature Communications 15 (1): 1796. https://doi.org/10.1038/s41467-024-45901-z.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Chen, Xiao, Song Leng, Zhaowu Yu, and Ranhao Sun. 2025. “Global Aging Exacerbates Heat Exposure Risk across Diverse Socioeconomic Pathways.” Geography and Sustainability 6 (5): 100318. https://doi.org/10.1016/j.geosus.2025.100318.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Falchetta, Giacomo, Enrica De Cian, Ian Sue Wing, and Deborah Carr. 2024. “Global Projections of Heat Exposure of Older Adults.” Nature Communications 15 (1): 3678. https://doi.org/10.1038/s41467-024-47197-5.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Kang, Yeji, Jongchul Park, and Dong-Ho Jang. 2024. “Compound Impact of Heatwaves on Vulnerable Groups Considering Age, Income, and Disability.” Scientific Reports 14 (1): 24732. https://doi.org/10.1038/s41598-024-75224-4.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Wu, Xilin, Jun Wang, Yong Ge, et al. 2025. “Future Heat-Related Mortality in Europe Driven by Compound Day-Night Heatwaves and Demographic Shifts.” Nature Communications 16 (1): 7420. https://doi.org/10.1038/s41467-025-62871-y.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However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assessing heat exposure of elderly people is difficult, because both the temperature and the place of residence of elderly people are heterogenous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within cities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2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 what extent should we take into account these heterogeneities </a:t>
            </a:r>
            <a:r>
              <a:rPr lang="en-US" sz="2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when assessing the evolution of elderly people to heatwaves?</a:t>
            </a:r>
            <a:endParaRPr lang="en-US" sz="2800" b="0" i="1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Methodology</a:t>
            </a:r>
            <a:r>
              <a:rPr lang="en-US" sz="2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</a:t>
            </a:r>
            <a:endParaRPr lang="en-US" sz="2800" b="0" i="1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Case study on Paris urban area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(~12 million inhabitants, population is aging)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Simulation of daily temperatures, taking into account land use changes in the city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065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An evolving population</a:t>
            </a:r>
            <a:endParaRPr/>
          </a:p>
        </p:txBody>
      </p:sp>
      <p:pic>
        <p:nvPicPr>
          <p:cNvPr id="125256152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454283" y="1825624"/>
            <a:ext cx="9283431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2422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Temperatures impacted by land use</a:t>
            </a:r>
            <a:endParaRPr/>
          </a:p>
        </p:txBody>
      </p:sp>
      <p:pic>
        <p:nvPicPr>
          <p:cNvPr id="630024251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</p:blipFill>
        <p:spPr bwMode="auto">
          <a:xfrm rot="0">
            <a:off x="838198" y="2179751"/>
            <a:ext cx="5181599" cy="3643085"/>
          </a:xfrm>
          <a:prstGeom prst="rect">
            <a:avLst/>
          </a:prstGeom>
        </p:spPr>
      </p:pic>
      <p:pic>
        <p:nvPicPr>
          <p:cNvPr id="1409056453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 rot="0">
            <a:off x="6172200" y="2179751"/>
            <a:ext cx="5181599" cy="3643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442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Focus on 5 summers</a:t>
            </a:r>
            <a:endParaRPr/>
          </a:p>
        </p:txBody>
      </p:sp>
      <p:pic>
        <p:nvPicPr>
          <p:cNvPr id="139992968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001522" y="1825624"/>
            <a:ext cx="6188954" cy="4351338"/>
          </a:xfrm>
          <a:prstGeom prst="rect">
            <a:avLst/>
          </a:prstGeom>
        </p:spPr>
      </p:pic>
      <p:sp>
        <p:nvSpPr>
          <p:cNvPr id="1854265225" name=""/>
          <p:cNvSpPr/>
          <p:nvPr/>
        </p:nvSpPr>
        <p:spPr bwMode="auto">
          <a:xfrm rot="0" flipH="0" flipV="0">
            <a:off x="7290891" y="2584009"/>
            <a:ext cx="1984461" cy="171638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182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Focus on 5 summers</a:t>
            </a:r>
            <a:endParaRPr sz="4400"/>
          </a:p>
        </p:txBody>
      </p:sp>
      <p:pic>
        <p:nvPicPr>
          <p:cNvPr id="209645109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001522" y="1825624"/>
            <a:ext cx="6188954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200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Unequal exposure of the population</a:t>
            </a:r>
            <a:endParaRPr/>
          </a:p>
        </p:txBody>
      </p:sp>
      <p:pic>
        <p:nvPicPr>
          <p:cNvPr id="497619393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144834" y="1825623"/>
            <a:ext cx="6186635" cy="4351338"/>
          </a:xfrm>
          <a:prstGeom prst="rect">
            <a:avLst/>
          </a:prstGeom>
        </p:spPr>
      </p:pic>
      <p:sp>
        <p:nvSpPr>
          <p:cNvPr id="752068556" name=""/>
          <p:cNvSpPr txBox="1"/>
          <p:nvPr/>
        </p:nvSpPr>
        <p:spPr bwMode="auto">
          <a:xfrm rot="0" flipH="0" flipV="0">
            <a:off x="7432350" y="2848068"/>
            <a:ext cx="4662001" cy="2652119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Considering population and land use of 2018 leads to a much higher exposure than population and land use of 1990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Why ? —&gt; decomposition of changes due to different factors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2373234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 rot="0">
            <a:off x="838197" y="1943300"/>
            <a:ext cx="5181599" cy="3644451"/>
          </a:xfrm>
          <a:prstGeom prst="rect">
            <a:avLst/>
          </a:prstGeom>
        </p:spPr>
      </p:pic>
      <p:sp>
        <p:nvSpPr>
          <p:cNvPr id="1457695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Various factors influence exposure to heat</a:t>
            </a:r>
            <a:endParaRPr/>
          </a:p>
        </p:txBody>
      </p:sp>
      <p:pic>
        <p:nvPicPr>
          <p:cNvPr id="2123631475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 rot="0">
            <a:off x="6172200" y="1943300"/>
            <a:ext cx="5181599" cy="3644451"/>
          </a:xfrm>
          <a:prstGeom prst="rect">
            <a:avLst/>
          </a:prstGeom>
        </p:spPr>
      </p:pic>
      <p:sp>
        <p:nvSpPr>
          <p:cNvPr id="1257955549" name=""/>
          <p:cNvSpPr txBox="1"/>
          <p:nvPr/>
        </p:nvSpPr>
        <p:spPr bwMode="auto">
          <a:xfrm rot="0" flipH="0" flipV="0">
            <a:off x="263583" y="5587751"/>
            <a:ext cx="11090934" cy="118908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Key message 1</a:t>
            </a:r>
            <a:endParaRPr sz="2400"/>
          </a:p>
          <a:p>
            <a:pPr>
              <a:defRPr/>
            </a:pPr>
            <a:r>
              <a:rPr sz="2400"/>
              <a:t>In absolute terms, land use changes and changes in elderly people location play a significant role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8199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93769" y="3584031"/>
            <a:ext cx="4047612" cy="2846867"/>
          </a:xfrm>
          <a:prstGeom prst="rect">
            <a:avLst/>
          </a:prstGeom>
        </p:spPr>
      </p:pic>
      <p:pic>
        <p:nvPicPr>
          <p:cNvPr id="149567335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46157" y="3584031"/>
            <a:ext cx="4047612" cy="2846867"/>
          </a:xfrm>
          <a:prstGeom prst="rect">
            <a:avLst/>
          </a:prstGeom>
        </p:spPr>
      </p:pic>
      <p:pic>
        <p:nvPicPr>
          <p:cNvPr id="36951387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-1454" y="3584031"/>
            <a:ext cx="4047612" cy="2846867"/>
          </a:xfrm>
          <a:prstGeom prst="rect">
            <a:avLst/>
          </a:prstGeom>
        </p:spPr>
      </p:pic>
      <p:pic>
        <p:nvPicPr>
          <p:cNvPr id="129414596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046157" y="464683"/>
            <a:ext cx="4047612" cy="2846867"/>
          </a:xfrm>
          <a:prstGeom prst="rect">
            <a:avLst/>
          </a:prstGeom>
        </p:spPr>
      </p:pic>
      <p:pic>
        <p:nvPicPr>
          <p:cNvPr id="134461982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-1454" y="464683"/>
            <a:ext cx="4047612" cy="2846867"/>
          </a:xfrm>
          <a:prstGeom prst="rect">
            <a:avLst/>
          </a:prstGeom>
        </p:spPr>
      </p:pic>
      <p:sp>
        <p:nvSpPr>
          <p:cNvPr id="2130605764" name=""/>
          <p:cNvSpPr txBox="1"/>
          <p:nvPr/>
        </p:nvSpPr>
        <p:spPr bwMode="auto">
          <a:xfrm rot="0" flipH="0" flipV="0">
            <a:off x="8592326" y="56584"/>
            <a:ext cx="3405277" cy="1920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message 2</a:t>
            </a:r>
            <a:endParaRPr sz="2400"/>
          </a:p>
          <a:p>
            <a:pPr>
              <a:defRPr/>
            </a:pPr>
            <a:r>
              <a:rPr sz="2400"/>
              <a:t>The influence of each factor depends on the characteristics of the heat waves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6990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51216649" name=""/>
          <p:cNvPicPr>
            <a:picLocks noChangeAspect="1"/>
          </p:cNvPicPr>
          <p:nvPr>
            <p:ph idx="1"/>
          </p:nvPr>
        </p:nvPicPr>
        <p:blipFill rotWithShape="1">
          <a:blip r:embed="rId3"/>
        </p:blipFill>
        <p:spPr bwMode="auto">
          <a:xfrm rot="0" flipH="0" flipV="0">
            <a:off x="267042" y="858191"/>
            <a:ext cx="7146447" cy="5026417"/>
          </a:xfrm>
          <a:prstGeom prst="rect">
            <a:avLst/>
          </a:prstGeom>
        </p:spPr>
      </p:pic>
      <p:sp>
        <p:nvSpPr>
          <p:cNvPr id="689055837" name=""/>
          <p:cNvSpPr txBox="1"/>
          <p:nvPr/>
        </p:nvSpPr>
        <p:spPr bwMode="auto">
          <a:xfrm rot="0" flipH="0" flipV="0">
            <a:off x="8035915" y="3376188"/>
            <a:ext cx="306497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48504509" name=""/>
          <p:cNvSpPr txBox="1"/>
          <p:nvPr/>
        </p:nvSpPr>
        <p:spPr bwMode="auto">
          <a:xfrm rot="0" flipH="0" flipV="0">
            <a:off x="8243390" y="3149851"/>
            <a:ext cx="3449556" cy="1920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Key message 3</a:t>
            </a:r>
            <a:endParaRPr sz="2400"/>
          </a:p>
          <a:p>
            <a:pPr>
              <a:defRPr/>
            </a:pPr>
            <a:r>
              <a:rPr sz="2400"/>
              <a:t>Local heterogeneities play a particularly big role for exposure to extreme heat conditions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2026-06-02T17:15:54Z</dcterms:modified>
</cp:coreProperties>
</file>